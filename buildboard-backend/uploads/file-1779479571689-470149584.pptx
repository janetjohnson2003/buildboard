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17"/>
  </p:notesMasterIdLst>
  <p:sldIdLst>
    <p:sldId id="272" r:id="rId2"/>
    <p:sldId id="266" r:id="rId3"/>
    <p:sldId id="273" r:id="rId4"/>
    <p:sldId id="267" r:id="rId5"/>
    <p:sldId id="274" r:id="rId6"/>
    <p:sldId id="268" r:id="rId7"/>
    <p:sldId id="279" r:id="rId8"/>
    <p:sldId id="269" r:id="rId9"/>
    <p:sldId id="275" r:id="rId10"/>
    <p:sldId id="276" r:id="rId11"/>
    <p:sldId id="280" r:id="rId12"/>
    <p:sldId id="270" r:id="rId13"/>
    <p:sldId id="281" r:id="rId14"/>
    <p:sldId id="277" r:id="rId15"/>
    <p:sldId id="28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4"/>
    <p:restoredTop sz="97248"/>
  </p:normalViewPr>
  <p:slideViewPr>
    <p:cSldViewPr snapToGrid="0">
      <p:cViewPr varScale="1">
        <p:scale>
          <a:sx n="82" d="100"/>
          <a:sy n="82" d="100"/>
        </p:scale>
        <p:origin x="15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287A1-8155-5040-A64E-E50C8AEDB69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A2FEE-85EF-3940-B96A-0ED489286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48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9A2FEE-85EF-3940-B96A-0ED489286B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9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9797-09A2-4EAD-90FA-9DE840A4750B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06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5DD1-4A14-498B-8636-D028F84BA3C0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675CE0CE-D0DB-AC06-7F8D-0F2CD278429D}"/>
              </a:ext>
            </a:extLst>
          </p:cNvPr>
          <p:cNvSpPr/>
          <p:nvPr userDrawn="1"/>
        </p:nvSpPr>
        <p:spPr>
          <a:xfrm>
            <a:off x="-343300" y="-176065"/>
            <a:ext cx="1460899" cy="1431107"/>
          </a:xfrm>
          <a:custGeom>
            <a:avLst/>
            <a:gdLst/>
            <a:ahLst/>
            <a:cxnLst/>
            <a:rect l="l" t="t" r="r" b="b"/>
            <a:pathLst>
              <a:path w="2193190" h="2193190">
                <a:moveTo>
                  <a:pt x="0" y="0"/>
                </a:moveTo>
                <a:lnTo>
                  <a:pt x="2193190" y="0"/>
                </a:lnTo>
                <a:lnTo>
                  <a:pt x="2193190" y="2193190"/>
                </a:lnTo>
                <a:lnTo>
                  <a:pt x="0" y="2193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6547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B5823-C888-4F30-90E7-910DB72C2CE2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25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8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CF49-7F76-4941-8C30-8B5E30B36916}" type="datetime1">
              <a:rPr lang="en-IN" smtClean="0"/>
              <a:t>09-04-2026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5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FCE81-17C9-4746-90BA-5ED92C5A82F0}" type="datetime1">
              <a:rPr lang="en-IN" smtClean="0"/>
              <a:t>09-04-2026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3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227-76A1-4DFB-9C3A-4A9A33731889}" type="datetime1">
              <a:rPr lang="en-IN" smtClean="0"/>
              <a:t>09-04-2026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0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b="1" i="0" baseline="0"/>
            </a:lvl1pPr>
          </a:lstStyle>
          <a:p>
            <a:fld id="{394080C2-A671-4661-9AF8-746EEC730BAA}" type="datetime1">
              <a:rPr lang="en-IN" smtClean="0"/>
              <a:t>09-04-2026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ICKECS - 2026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 i="0" baseline="0"/>
            </a:lvl1pPr>
          </a:lstStyle>
          <a:p>
            <a:fld id="{C04AB08A-849E-7849-A85F-2850737AC4A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0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FD85CCA-D146-441C-BFF1-630533248E62}" type="datetime1">
              <a:rPr lang="en-IN" smtClean="0"/>
              <a:t>09-04-2026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ICKECS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8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08633-8591-432D-B526-59F8527D557A}" type="datetime1">
              <a:rPr lang="en-IN" smtClean="0"/>
              <a:t>09-04-2026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3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203B-5A90-4E8F-8E79-A8CE8CC1B890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A906-B37C-49EF-A670-C6B3193C8B86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2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6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CA4BA6-8ED0-49A8-BCE7-4D2388E66560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ICKECS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4AB08A-849E-7849-A85F-2850737AC4A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0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69168" y="4326083"/>
            <a:ext cx="7931020" cy="997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91"/>
              </a:lnSpc>
            </a:pPr>
            <a:r>
              <a:rPr lang="en-US" sz="2400" b="1" dirty="0">
                <a:latin typeface="Baskerville Old Face" panose="02020602080505020303" pitchFamily="18" charset="0"/>
                <a:ea typeface="+mj-ea"/>
                <a:cs typeface="Calibri"/>
              </a:rPr>
              <a:t>Paper ID: 1145</a:t>
            </a:r>
          </a:p>
          <a:p>
            <a:pPr>
              <a:lnSpc>
                <a:spcPts val="1891"/>
              </a:lnSpc>
            </a:pPr>
            <a:r>
              <a:rPr lang="en-US" sz="2400" b="1" dirty="0">
                <a:latin typeface="Baskerville Old Face" panose="02020602080505020303" pitchFamily="18" charset="0"/>
                <a:ea typeface="+mj-ea"/>
                <a:cs typeface="Calibri"/>
              </a:rPr>
              <a:t>Paper Title: Predicting Workplace Anxiety in the Tech Sector Using a Machine Learning-Based Stress Prediction and Recommendation System </a:t>
            </a:r>
          </a:p>
        </p:txBody>
      </p:sp>
      <p:sp>
        <p:nvSpPr>
          <p:cNvPr id="6" name="AutoShape 6"/>
          <p:cNvSpPr/>
          <p:nvPr/>
        </p:nvSpPr>
        <p:spPr>
          <a:xfrm>
            <a:off x="311630" y="4078266"/>
            <a:ext cx="858484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744072" y="1523448"/>
            <a:ext cx="5448263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600" b="1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</a:t>
            </a:r>
            <a:r>
              <a:rPr lang="en-US" sz="2600" b="1" baseline="30000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th</a:t>
            </a:r>
            <a:r>
              <a:rPr lang="en-US" sz="2600" b="1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IEEE International Conference </a:t>
            </a:r>
          </a:p>
          <a:p>
            <a:pPr algn="ctr"/>
            <a:r>
              <a:rPr lang="en-US" sz="2600" b="1" dirty="0">
                <a:solidFill>
                  <a:srgbClr val="004AAD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on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3990" y="2538787"/>
            <a:ext cx="6428429" cy="1200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600" b="1" spc="7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Knowledge Engineering </a:t>
            </a:r>
          </a:p>
          <a:p>
            <a:pPr algn="ctr"/>
            <a:r>
              <a:rPr lang="en-US" sz="2600" b="1" spc="7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 </a:t>
            </a:r>
          </a:p>
          <a:p>
            <a:pPr algn="ctr"/>
            <a:r>
              <a:rPr lang="en-US" sz="2600" b="1" spc="75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Communication Systems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64710" y="3818620"/>
            <a:ext cx="2747222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11"/>
              </a:lnSpc>
            </a:pPr>
            <a:r>
              <a:rPr lang="en-US" b="1" dirty="0">
                <a:solidFill>
                  <a:srgbClr val="7F271E"/>
                </a:solidFill>
                <a:latin typeface="Montserrat Classic Bold"/>
              </a:rPr>
              <a:t>24</a:t>
            </a:r>
            <a:r>
              <a:rPr lang="en-US" b="1" baseline="30000" dirty="0">
                <a:solidFill>
                  <a:srgbClr val="7F271E"/>
                </a:solidFill>
                <a:latin typeface="Montserrat Classic Bold"/>
              </a:rPr>
              <a:t>th</a:t>
            </a:r>
            <a:r>
              <a:rPr lang="en-US" b="1" dirty="0">
                <a:solidFill>
                  <a:srgbClr val="7F271E"/>
                </a:solidFill>
                <a:latin typeface="Montserrat Classic Bold"/>
              </a:rPr>
              <a:t>  &amp; 25</a:t>
            </a:r>
            <a:r>
              <a:rPr lang="en-US" b="1" baseline="30000" dirty="0">
                <a:solidFill>
                  <a:srgbClr val="7F271E"/>
                </a:solidFill>
                <a:latin typeface="Montserrat Classic Bold"/>
              </a:rPr>
              <a:t>th</a:t>
            </a:r>
            <a:r>
              <a:rPr lang="en-US" b="1" dirty="0">
                <a:solidFill>
                  <a:srgbClr val="7F271E"/>
                </a:solidFill>
                <a:latin typeface="Montserrat Classic Bold"/>
              </a:rPr>
              <a:t>  April, 2026</a:t>
            </a:r>
          </a:p>
        </p:txBody>
      </p:sp>
      <p:sp>
        <p:nvSpPr>
          <p:cNvPr id="22" name="Freeform 22"/>
          <p:cNvSpPr/>
          <p:nvPr/>
        </p:nvSpPr>
        <p:spPr>
          <a:xfrm>
            <a:off x="-103798" y="1659265"/>
            <a:ext cx="1847870" cy="1792210"/>
          </a:xfrm>
          <a:custGeom>
            <a:avLst/>
            <a:gdLst/>
            <a:ahLst/>
            <a:cxnLst/>
            <a:rect l="l" t="t" r="r" b="b"/>
            <a:pathLst>
              <a:path w="2193190" h="2193190">
                <a:moveTo>
                  <a:pt x="0" y="0"/>
                </a:moveTo>
                <a:lnTo>
                  <a:pt x="2193190" y="0"/>
                </a:lnTo>
                <a:lnTo>
                  <a:pt x="2193190" y="2193190"/>
                </a:lnTo>
                <a:lnTo>
                  <a:pt x="0" y="2193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3" name="Freeform 23"/>
          <p:cNvSpPr/>
          <p:nvPr/>
        </p:nvSpPr>
        <p:spPr>
          <a:xfrm>
            <a:off x="7000287" y="2164464"/>
            <a:ext cx="2053038" cy="655777"/>
          </a:xfrm>
          <a:custGeom>
            <a:avLst/>
            <a:gdLst/>
            <a:ahLst/>
            <a:cxnLst/>
            <a:rect l="l" t="t" r="r" b="b"/>
            <a:pathLst>
              <a:path w="3654611" h="909592">
                <a:moveTo>
                  <a:pt x="0" y="0"/>
                </a:moveTo>
                <a:lnTo>
                  <a:pt x="3654610" y="0"/>
                </a:lnTo>
                <a:lnTo>
                  <a:pt x="3654610" y="909592"/>
                </a:lnTo>
                <a:lnTo>
                  <a:pt x="0" y="909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5" name="Subtitle 2"/>
          <p:cNvSpPr txBox="1">
            <a:spLocks/>
          </p:cNvSpPr>
          <p:nvPr/>
        </p:nvSpPr>
        <p:spPr>
          <a:xfrm>
            <a:off x="3565186" y="5545578"/>
            <a:ext cx="2887481" cy="6457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Author -Krithika</a:t>
            </a:r>
          </a:p>
          <a:p>
            <a:pPr marL="0" indent="0">
              <a:buNone/>
            </a:pPr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6" name="Subtitle 2"/>
          <p:cNvSpPr txBox="1">
            <a:spLocks/>
          </p:cNvSpPr>
          <p:nvPr/>
        </p:nvSpPr>
        <p:spPr>
          <a:xfrm>
            <a:off x="256226" y="5903727"/>
            <a:ext cx="3942795" cy="511087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Co - Author –Saritha Shetty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7" name="Subtitle 2"/>
          <p:cNvSpPr txBox="1">
            <a:spLocks/>
          </p:cNvSpPr>
          <p:nvPr/>
        </p:nvSpPr>
        <p:spPr>
          <a:xfrm>
            <a:off x="2390474" y="5547007"/>
            <a:ext cx="2077731" cy="511087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8" name="Subtitle 2"/>
          <p:cNvSpPr txBox="1">
            <a:spLocks/>
          </p:cNvSpPr>
          <p:nvPr/>
        </p:nvSpPr>
        <p:spPr>
          <a:xfrm>
            <a:off x="4957010" y="5903726"/>
            <a:ext cx="4186989" cy="511087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Co - Author –Savitha Shetty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9" name="Subtitle 2"/>
          <p:cNvSpPr txBox="1">
            <a:spLocks/>
          </p:cNvSpPr>
          <p:nvPr/>
        </p:nvSpPr>
        <p:spPr>
          <a:xfrm>
            <a:off x="6685381" y="5545578"/>
            <a:ext cx="2077731" cy="511087"/>
          </a:xfrm>
          <a:prstGeom prst="rect">
            <a:avLst/>
          </a:prstGeo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5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C6DAF-BBEE-3122-347B-66B2F5F20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99" y="62732"/>
            <a:ext cx="7598104" cy="13814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21F1E-6227-BA7A-5DBF-CCB8A7DE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D152-13B7-4F77-8188-59B8CA939FD1}" type="datetime1">
              <a:rPr lang="en-IN" smtClean="0"/>
              <a:t>09-04-2026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2C53CD-A8BB-3197-A16F-C4D8DAED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B7D965-981A-BCC5-F8DF-D14C7D70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4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9763" indent="-457200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stress is a major issue in modern organization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 productivity, mental health and performance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are manual and subjective</a:t>
            </a:r>
          </a:p>
          <a:p>
            <a:pPr marL="639763" indent="-457200"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uses machine learning for automated prediction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1F0-83CF-4AA4-9607-C948F846BFBE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8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Problem Statement/</a:t>
            </a:r>
            <a:r>
              <a:rPr lang="en-US" sz="3600" dirty="0"/>
              <a:t>Objectives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404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statement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system for continuous stress monitoring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are not scalable</a:t>
            </a:r>
          </a:p>
          <a:p>
            <a:pPr marL="38404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38404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employee stress (Burn Rate)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ML models for accurate prediction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stress factors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91F0-83CF-4AA4-9607-C948F846BFBE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9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prediction using statistical and ML methods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Models: Linear Regression, SVR,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approaches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interpretability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handling of non-linear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scalability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E261-4006-496B-B8E6-9CF8FB209DA3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3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600" dirty="0"/>
              <a:t>Research Gaps /Open Issues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automated systems for continuous stress monitoring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models do not effectively capture non-linear relationships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use of feature importance for identifying key stress factors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scalability of traditional stress assessment methods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Insufficient focus on structured workplace data for prediction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E261-4006-496B-B8E6-9CF8FB209DA3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8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 System Architecture</a:t>
            </a:r>
            <a:r>
              <a:rPr lang="en-US" sz="3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407E-5861-4C74-84F0-A8C0DD26929E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82367-AE8B-183F-9369-6C4ED516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44" y="1954104"/>
            <a:ext cx="4507230" cy="427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6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145A-2202-6A83-2CE1-526B37094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3F6FC-E829-A1A9-CA6D-749B0CC8F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Input:Employee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burnout dataset is provided as input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cleaned, encoded, and normalized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Engineering:Date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are extracted for better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Training:Machine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models are trained on processed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Prediction:Stress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(Burn Rate) are predicted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Evaluation:Performance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measured using MSE and R² Score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2D565-559E-ECD5-DFA4-9073364D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5DD1-4A14-498B-8636-D028F84BA3C0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58A2-32AE-07EC-E0DC-E2822AEE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1E9F5-67F8-48ED-9D0C-EE68FB55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7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Implementation Details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Language: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Libraries: Pandas, NumPy, Scikit-learn, Matplotlib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Dataset: 22,750 employee records, 9 features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Features:Mental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fatigue, resource allocation,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gender,designation,joining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period, WFH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setup,company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 Random Forest Regressor for prediction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1FDA-DA53-48A7-98E1-8C63F21457AD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6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Experimental Setup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Train-test split applied as 80% training and 20% testing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state set to 42 to ensure reproducibility of 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Regressor used with 100 decision trees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100)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machine learning models evaluated for performance comparison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metrics used: Mean Squared Error (MSE) and R² Score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1FDA-DA53-48A7-98E1-8C63F21457AD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4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Results, Analysis &amp; Discussion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comparison using MSE and R2 Score across multiple models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models achieved high accuracy with $R^{2}$ values greater than 0.91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showed stable and consistent performance compared to other models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importance analysis indicates mental fatigue and resource allocation as key stress factors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effectively captures non-linear relationships in workplace data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B1FDA-DA53-48A7-98E1-8C63F21457AD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02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39C2-9292-59D5-5BE6-61285F98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Analysis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656C15-1032-AF3A-4D7A-46AAEA011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750" y="1425611"/>
            <a:ext cx="5008563" cy="387025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95C40-97C9-A684-162D-40CC6FC6F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using MSE and R2 Score across multiple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achieved high accuracy with $R^{2}$ values greater than 0.91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showed stable and consistent performance compared to other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 indicates mental fatigue and resource allocation as key stress factors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effectively captures non-linear relationships in workplace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301DA-2B85-DC3E-8AB5-FAFDAF23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85CCA-D146-441C-BFF1-630533248E62}" type="datetime1">
              <a:rPr lang="en-IN" smtClean="0"/>
              <a:t>09-04-2026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EC353-249D-86E0-93EC-568F1657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9FBD-5203-513C-0AC3-9C5D58AC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40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an automated system for predicting employee stress using   machine learning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 model achieved high accuracy and reliable performance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identified key factors influencing employee burnout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scalable and data-driven solution for stress monitoring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B0AEC-AF15-42F3-9836-346566E9173C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0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3D97-297D-EEF0-9178-C394FE9B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EBB4-2C41-06B7-722A-52AF656E7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real-world data from diverse organizations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psychometric scales (PHQ-9, GAD-7, DASS-21)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real-time stress monitoring dashboards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 model for lightweight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system to mobile and web platforms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76DAB-9146-A810-0356-5DA70B96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5DD1-4A14-498B-8636-D028F84BA3C0}" type="datetime1">
              <a:rPr lang="en-IN" smtClean="0"/>
              <a:t>09-04-2026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DB3F-042A-DC47-74CF-D7E370FC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EB816-3AF1-02A2-B044-76C24E6D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2272-8C83-8EB9-15FC-D743974B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4C-BF03-A8FB-48AE-D8065922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[1] S. N. Gamage and P. P. G. D. Asanka, “Machine Learning Approach to Predict Mental Distress of IT Workforce in Remote Working Environments,” 2022.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[2] P. Nagpal et al., “Leveraging AI and Machine Learning for Advanced Predictive Analytics in Workforce Management,” 2025.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[3] V. Anusuya Devi et al., “Wearable Physiological IoT System with Neural Network to Detect Stress &amp; Emotion in IT Professionals,” 2023.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[4] X. Long et al., “Binomial Logistic Regression and </a:t>
            </a:r>
            <a:r>
              <a:rPr lang="en-US" dirty="0" err="1"/>
              <a:t>XGBoost</a:t>
            </a:r>
            <a:r>
              <a:rPr lang="en-US" dirty="0"/>
              <a:t> Model of Multiple Factors on Employee Well-being,” 2025.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[5] A. Garlapati et al., “Predicting Employees under Stress for Pre-emptive Remediation using Machine Learning Algorithm,” 2020.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55192-3045-0CD6-C931-9354926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50CB-C2D6-4022-8C6D-70F7406F662D}" type="datetime1">
              <a:rPr lang="en-IN" smtClean="0"/>
              <a:t>09-04-2026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2E99-AFA7-895F-2EF3-B8871BE1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ICKECS - 2026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9EB05-D088-7AD0-6824-EE85B3EA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8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A6BC-5824-D03F-17DD-CB256AD3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17845"/>
            <a:ext cx="7543800" cy="1707502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Algerian" panose="04020705040A02060702" pitchFamily="82" charset="0"/>
              </a:rPr>
              <a:t>       THANK YOU</a:t>
            </a:r>
            <a:endParaRPr lang="en-IN" sz="6600" dirty="0">
              <a:latin typeface="Algerian" panose="04020705040A02060702" pitchFamily="8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0D26F-9E7A-0CE5-73F4-1C032CD3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227-76A1-4DFB-9C3A-4A9A33731889}" type="datetime1">
              <a:rPr lang="en-IN" smtClean="0"/>
              <a:t>09-04-2026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BC105-B788-8C83-4FBE-62095CFE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ICKECS - 2026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14E77-788E-B596-B3BB-5A9C5472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B08A-849E-7849-A85F-2850737AC4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9058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382</TotalTime>
  <Words>835</Words>
  <Application>Microsoft Office PowerPoint</Application>
  <PresentationFormat>On-screen Show (4:3)</PresentationFormat>
  <Paragraphs>137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Microsoft YaHei</vt:lpstr>
      <vt:lpstr>Algerian</vt:lpstr>
      <vt:lpstr>Arial</vt:lpstr>
      <vt:lpstr>Baskerville Old Face</vt:lpstr>
      <vt:lpstr>Bookman Old Style</vt:lpstr>
      <vt:lpstr>Calibri</vt:lpstr>
      <vt:lpstr>Gadugi</vt:lpstr>
      <vt:lpstr>Georgia</vt:lpstr>
      <vt:lpstr>Montserrat Classic Bold</vt:lpstr>
      <vt:lpstr>Times New Roman</vt:lpstr>
      <vt:lpstr>Wingdings</vt:lpstr>
      <vt:lpstr>Retrospect</vt:lpstr>
      <vt:lpstr>PowerPoint Presentation</vt:lpstr>
      <vt:lpstr>Introduction</vt:lpstr>
      <vt:lpstr>Problem Statement/Objectives</vt:lpstr>
      <vt:lpstr>Literature Survey</vt:lpstr>
      <vt:lpstr>Research Gaps /Open Issues</vt:lpstr>
      <vt:lpstr> System Architecture </vt:lpstr>
      <vt:lpstr>Work flow</vt:lpstr>
      <vt:lpstr>Implementation Details</vt:lpstr>
      <vt:lpstr>Experimental Setup</vt:lpstr>
      <vt:lpstr>Results, Analysis &amp; Discussion</vt:lpstr>
      <vt:lpstr>Results &amp; Analysis</vt:lpstr>
      <vt:lpstr>Conclusions</vt:lpstr>
      <vt:lpstr>Future Work</vt:lpstr>
      <vt:lpstr>References</vt:lpstr>
      <vt:lpstr>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hodcsesjcit@outlook.com</dc:creator>
  <cp:lastModifiedBy>Krithika .</cp:lastModifiedBy>
  <cp:revision>36</cp:revision>
  <dcterms:created xsi:type="dcterms:W3CDTF">2024-04-05T13:23:24Z</dcterms:created>
  <dcterms:modified xsi:type="dcterms:W3CDTF">2026-04-09T10:37:10Z</dcterms:modified>
</cp:coreProperties>
</file>