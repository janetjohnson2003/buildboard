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Georgia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3C6F8FF-BAFF-4DEC-9C11-ED5DD2B75294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1316A6-9294-4739-A7ED-1EF91E4D7E2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C959CE-6B52-4163-BD11-3806CCA65A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0D82B4-C581-4DF3-84AB-1E7FB005A3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3DB8DD-888A-4D34-9A2C-4F29B755C9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36810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88280" y="1845720"/>
            <a:ext cx="36810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0AB4A4-B895-471A-A5E6-ED7EE9D4FE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1E391F-9328-4C6E-8F04-BF7AFA6836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822960" y="286560"/>
            <a:ext cx="7543440" cy="67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E95A83-AC37-4CED-97D4-7595C13D5D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88280" y="1845720"/>
            <a:ext cx="36810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822960" y="394704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D77658-2C89-432B-8A1B-2F9017ACBF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36810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88280" y="394704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129A3E-01E5-4112-A55C-7E6DE8A12F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822960" y="3947040"/>
            <a:ext cx="75434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673357-A96C-4BEC-93B0-738C302079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822960" y="3947040"/>
            <a:ext cx="75434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BF18A2-7FB9-44A0-855F-A2AF83FDF5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22960" y="394704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88280" y="394704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9C85FF-24B6-4E5B-8819-28E1ABE531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373560" y="184572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5924520" y="184572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822960" y="394704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373560" y="394704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5924520" y="394704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EE6C0C-EA00-4D90-8135-8CCAAB9505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11A9A3-E882-4A4E-84BC-46AD6CE922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58729B-8B88-4491-B7CB-68A01590F1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39233C-1C0D-4C5B-828F-4985438404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36810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88280" y="1845720"/>
            <a:ext cx="36810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9DC02C-6B5E-4400-8098-4EDD67778C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C174BE-BB77-4882-94E8-3A13C3F4F4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822960" y="286560"/>
            <a:ext cx="7543440" cy="67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EF448B-CCAA-4867-A084-AD66654725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88280" y="1845720"/>
            <a:ext cx="36810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822960" y="394704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70FE1D-60DF-41C0-A01A-8DA9557998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36810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688280" y="394704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230BD0-6BEE-4CA3-9ED5-AF2A2DEB27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22960" y="3947040"/>
            <a:ext cx="75434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85D82D-32C6-43C2-AAFF-82ABC876F6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822960" y="3947040"/>
            <a:ext cx="754344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38B080-1661-4AE0-8B12-FF9E0E50A2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688280" y="184572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822960" y="394704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688280" y="3947040"/>
            <a:ext cx="368100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4FFA0E-684E-4CE8-AF14-29A575400F7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3373560" y="184572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5924520" y="184572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822960" y="394704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3373560" y="394704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5924520" y="3947040"/>
            <a:ext cx="2428920" cy="191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2B9045-20EE-4B84-8E43-60A5FAAB4FB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914364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Rectangle 8" hidden="1"/>
          <p:cNvSpPr/>
          <p:nvPr/>
        </p:nvSpPr>
        <p:spPr>
          <a:xfrm>
            <a:off x="0" y="6334200"/>
            <a:ext cx="914364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Straight Connector 9"/>
          <p:cNvSpPr/>
          <p:nvPr/>
        </p:nvSpPr>
        <p:spPr>
          <a:xfrm>
            <a:off x="894960" y="1737720"/>
            <a:ext cx="7475400" cy="360"/>
          </a:xfrm>
          <a:prstGeom prst="line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Rectangle 4"/>
          <p:cNvSpPr/>
          <p:nvPr/>
        </p:nvSpPr>
        <p:spPr>
          <a:xfrm>
            <a:off x="0" y="6400800"/>
            <a:ext cx="91411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Rectangle 5"/>
          <p:cNvSpPr/>
          <p:nvPr/>
        </p:nvSpPr>
        <p:spPr>
          <a:xfrm>
            <a:off x="0" y="6334200"/>
            <a:ext cx="91411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PlaceHolder 1"/>
          <p:cNvSpPr>
            <a:spLocks noGrp="1"/>
          </p:cNvSpPr>
          <p:nvPr>
            <p:ph type="dt" idx="1"/>
          </p:nvPr>
        </p:nvSpPr>
        <p:spPr>
          <a:xfrm>
            <a:off x="822960" y="6459840"/>
            <a:ext cx="18540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1" lang="en-IN" sz="1000" spc="-1" strike="noStrike">
                <a:solidFill>
                  <a:srgbClr val="ffffff"/>
                </a:solidFill>
                <a:latin typeface="Georgia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1" lang="en-IN" sz="1000" spc="-1" strike="noStrike">
                <a:solidFill>
                  <a:srgbClr val="ffffff"/>
                </a:solidFill>
                <a:latin typeface="Georgia"/>
              </a:rPr>
              <a:t>02/04/2026</a:t>
            </a:r>
            <a:endParaRPr b="0" lang="en-IN" sz="1000" spc="-1" strike="noStrike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2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1" lang="en-US" sz="10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 cap="all">
                <a:solidFill>
                  <a:srgbClr val="ffffff"/>
                </a:solidFill>
                <a:latin typeface="Georgia"/>
              </a:rPr>
              <a:t> </a:t>
            </a:r>
            <a:endParaRPr b="0" lang="en-IN" sz="1000" spc="-1" strike="noStrike"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7425360" y="6459840"/>
            <a:ext cx="983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1" lang="en-US" sz="1000" spc="-1" strike="noStrike">
                <a:solidFill>
                  <a:srgbClr val="ffffff"/>
                </a:solidFill>
                <a:latin typeface="Georgi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8FD8C1A-6963-4C68-8072-6C95D14D16B5}" type="slidenum">
              <a:rPr b="1" lang="en-US" sz="1000" spc="-1" strike="noStrike">
                <a:solidFill>
                  <a:srgbClr val="ffffff"/>
                </a:solidFill>
                <a:latin typeface="Georgia"/>
              </a:rPr>
              <a:t>6</a:t>
            </a:fld>
            <a:endParaRPr b="0" lang="en-IN" sz="1000" spc="-1" strike="noStrike"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Georgia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Georgia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Click to edit the outline text format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Georgia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Georgia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404040"/>
                </a:solidFill>
                <a:latin typeface="Georgia"/>
              </a:rPr>
              <a:t>Third Outline Level</a:t>
            </a:r>
            <a:endParaRPr b="0" lang="en-US" sz="1400" spc="-1" strike="noStrike">
              <a:solidFill>
                <a:srgbClr val="404040"/>
              </a:solidFill>
              <a:latin typeface="Georgia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Georgia"/>
              </a:rPr>
              <a:t>Fourth Outline Level</a:t>
            </a:r>
            <a:endParaRPr b="0" lang="en-US" sz="1400" spc="-1" strike="noStrike">
              <a:solidFill>
                <a:srgbClr val="404040"/>
              </a:solidFill>
              <a:latin typeface="Georgia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6"/>
          <p:cNvSpPr/>
          <p:nvPr/>
        </p:nvSpPr>
        <p:spPr>
          <a:xfrm>
            <a:off x="0" y="6400800"/>
            <a:ext cx="914364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Rectangle 8"/>
          <p:cNvSpPr/>
          <p:nvPr/>
        </p:nvSpPr>
        <p:spPr>
          <a:xfrm>
            <a:off x="0" y="6334200"/>
            <a:ext cx="914364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Straight Connector 9"/>
          <p:cNvSpPr/>
          <p:nvPr/>
        </p:nvSpPr>
        <p:spPr>
          <a:xfrm>
            <a:off x="894960" y="1737720"/>
            <a:ext cx="7475400" cy="360"/>
          </a:xfrm>
          <a:prstGeom prst="line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85000"/>
              </a:lnSpc>
              <a:buNone/>
            </a:pPr>
            <a:r>
              <a:rPr b="1" lang="en-US" sz="4800" spc="-52" strike="noStrike">
                <a:solidFill>
                  <a:srgbClr val="5b9bd5"/>
                </a:solidFill>
                <a:latin typeface="Bookman Old Style"/>
              </a:rPr>
              <a:t>Click to edit Master </a:t>
            </a:r>
            <a:r>
              <a:rPr b="1" lang="en-US" sz="4800" spc="-52" strike="noStrike">
                <a:solidFill>
                  <a:srgbClr val="5b9bd5"/>
                </a:solidFill>
                <a:latin typeface="Bookman Old Style"/>
              </a:rPr>
              <a:t>title style</a:t>
            </a:r>
            <a:endParaRPr b="0" lang="en-US" sz="48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Autofit/>
          </a:bodyPr>
          <a:p>
            <a:pPr marL="91440" indent="-9144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Calibri"/>
              <a:buChar char=" 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Click to edit Master text styles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lvl="1" marL="384120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5b9bd5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rgbClr val="404040"/>
                </a:solidFill>
                <a:latin typeface="Georgia"/>
              </a:rPr>
              <a:t>Second level</a:t>
            </a:r>
            <a:endParaRPr b="0" lang="en-US" sz="1800" spc="-1" strike="noStrike">
              <a:solidFill>
                <a:srgbClr val="404040"/>
              </a:solidFill>
              <a:latin typeface="Georgia"/>
            </a:endParaRPr>
          </a:p>
          <a:p>
            <a:pPr lvl="2" marL="567000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5b9bd5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latin typeface="Georgia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Georgia"/>
            </a:endParaRPr>
          </a:p>
          <a:p>
            <a:pPr lvl="3" marL="749880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5b9bd5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latin typeface="Georgia"/>
              </a:rPr>
              <a:t>Fourth level</a:t>
            </a:r>
            <a:endParaRPr b="0" lang="en-US" sz="1400" spc="-1" strike="noStrike">
              <a:solidFill>
                <a:srgbClr val="404040"/>
              </a:solidFill>
              <a:latin typeface="Georgia"/>
            </a:endParaRPr>
          </a:p>
          <a:p>
            <a:pPr lvl="4" marL="932760" indent="-18288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5b9bd5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rgbClr val="404040"/>
                </a:solidFill>
                <a:latin typeface="Georgia"/>
              </a:rPr>
              <a:t>Fifth level</a:t>
            </a:r>
            <a:endParaRPr b="0" lang="en-US" sz="1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4"/>
          </p:nvPr>
        </p:nvSpPr>
        <p:spPr>
          <a:xfrm>
            <a:off x="822960" y="6459840"/>
            <a:ext cx="185400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IN" sz="900" spc="-1" strike="noStrike">
                <a:solidFill>
                  <a:srgbClr val="ffffff"/>
                </a:solidFill>
                <a:latin typeface="Georgia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rgbClr val="ffffff"/>
                </a:solidFill>
                <a:latin typeface="Georgia"/>
              </a:rPr>
              <a:t>&lt;date/time&gt;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5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&lt;footer&gt;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6"/>
          </p:nvPr>
        </p:nvSpPr>
        <p:spPr>
          <a:xfrm>
            <a:off x="7425360" y="6459840"/>
            <a:ext cx="9835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Georgi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AB73FD-6C08-4A7C-9731-B5BCC8FA1470}" type="slidenum">
              <a:rPr b="0" lang="en-US" sz="1050" spc="-1" strike="noStrike">
                <a:solidFill>
                  <a:srgbClr val="ffffff"/>
                </a:solidFill>
                <a:latin typeface="Georgia"/>
              </a:rPr>
              <a:t>&lt;number&gt;</a:t>
            </a:fld>
            <a:endParaRPr b="0" lang="en-IN" sz="1050" spc="-1" strike="noStrike">
              <a:latin typeface="Times New Roman"/>
            </a:endParaRPr>
          </a:p>
        </p:txBody>
      </p:sp>
      <p:sp>
        <p:nvSpPr>
          <p:cNvPr id="54" name="Freeform 22"/>
          <p:cNvSpPr/>
          <p:nvPr/>
        </p:nvSpPr>
        <p:spPr>
          <a:xfrm>
            <a:off x="-343440" y="-176040"/>
            <a:ext cx="1460520" cy="1430640"/>
          </a:xfrm>
          <a:custGeom>
            <a:avLst/>
            <a:gdLst/>
            <a:ahLst/>
            <a:rect l="l" t="t" r="r" b="b"/>
            <a:pathLst>
              <a:path w="2193190" h="2193190">
                <a:moveTo>
                  <a:pt x="0" y="0"/>
                </a:moveTo>
                <a:lnTo>
                  <a:pt x="2193190" y="0"/>
                </a:lnTo>
                <a:lnTo>
                  <a:pt x="2193190" y="2193190"/>
                </a:lnTo>
                <a:lnTo>
                  <a:pt x="0" y="21931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5"/>
          <p:cNvSpPr/>
          <p:nvPr/>
        </p:nvSpPr>
        <p:spPr>
          <a:xfrm>
            <a:off x="720000" y="4139280"/>
            <a:ext cx="792000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91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Baskerville Old Face"/>
              </a:rPr>
              <a:t>CRP – 1367: </a:t>
            </a:r>
            <a:r>
              <a:rPr b="1" lang="en-US" sz="2000" spc="-1" strike="noStrike">
                <a:solidFill>
                  <a:srgbClr val="000000"/>
                </a:solidFill>
                <a:latin typeface="Baskerville Old Face"/>
                <a:ea typeface="Noto Sans CJK SC"/>
              </a:rPr>
              <a:t>Text</a:t>
            </a:r>
            <a:r>
              <a:rPr b="1" lang="en-US" sz="2000" spc="-60" strike="noStrike">
                <a:solidFill>
                  <a:srgbClr val="000000"/>
                </a:solidFill>
                <a:latin typeface="Baskerville Old Face"/>
                <a:ea typeface="Noto Sans CJK SC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Baskerville Old Face"/>
                <a:ea typeface="Noto Sans CJK SC"/>
              </a:rPr>
              <a:t>Image</a:t>
            </a:r>
            <a:r>
              <a:rPr b="1" lang="en-US" sz="2000" spc="-72" strike="noStrike">
                <a:solidFill>
                  <a:srgbClr val="000000"/>
                </a:solidFill>
                <a:latin typeface="Baskerville Old Face"/>
                <a:ea typeface="Noto Sans CJK SC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Baskerville Old Face"/>
                <a:ea typeface="Noto Sans CJK SC"/>
              </a:rPr>
              <a:t>Restoration:</a:t>
            </a:r>
            <a:r>
              <a:rPr b="1" lang="en-US" sz="2000" spc="-72" strike="noStrike">
                <a:solidFill>
                  <a:srgbClr val="000000"/>
                </a:solidFill>
                <a:latin typeface="Baskerville Old Face"/>
                <a:ea typeface="Noto Sans CJK SC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Baskerville Old Face"/>
                <a:ea typeface="Noto Sans CJK SC"/>
              </a:rPr>
              <a:t>A</a:t>
            </a:r>
            <a:r>
              <a:rPr b="1" lang="en-US" sz="2000" spc="-97" strike="noStrike">
                <a:solidFill>
                  <a:srgbClr val="000000"/>
                </a:solidFill>
                <a:latin typeface="Baskerville Old Face"/>
                <a:ea typeface="Noto Sans CJK SC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Baskerville Old Face"/>
                <a:ea typeface="Noto Sans CJK SC"/>
              </a:rPr>
              <a:t>Comprehensive</a:t>
            </a:r>
            <a:r>
              <a:rPr b="1" lang="en-US" sz="2000" spc="-80" strike="noStrike">
                <a:solidFill>
                  <a:srgbClr val="000000"/>
                </a:solidFill>
                <a:latin typeface="Baskerville Old Face"/>
                <a:ea typeface="Noto Sans CJK SC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Baskerville Old Face"/>
                <a:ea typeface="Noto Sans CJK SC"/>
              </a:rPr>
              <a:t>Review of Multi-modal, Generative, and Adaptive </a:t>
            </a:r>
            <a:r>
              <a:rPr b="1" lang="en-US" sz="2000" spc="-1" strike="noStrike">
                <a:solidFill>
                  <a:srgbClr val="000000"/>
                </a:solidFill>
                <a:latin typeface="Baskerville Old Face"/>
                <a:ea typeface="Noto Sans CJK SC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Baskerville Old Face"/>
                <a:ea typeface="Noto Sans CJK SC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Baskerville Old Face"/>
                <a:ea typeface="Noto Sans CJK SC"/>
              </a:rPr>
              <a:t>	</a:t>
            </a:r>
            <a:r>
              <a:rPr b="1" lang="en-US" sz="2000" spc="-1" strike="noStrike">
                <a:solidFill>
                  <a:srgbClr val="000000"/>
                </a:solidFill>
                <a:latin typeface="Baskerville Old Face"/>
                <a:ea typeface="Noto Sans CJK SC"/>
              </a:rPr>
              <a:t>	</a:t>
            </a:r>
            <a:r>
              <a:rPr b="1" lang="en-US" sz="2000" spc="-12" strike="noStrike">
                <a:solidFill>
                  <a:srgbClr val="000000"/>
                </a:solidFill>
                <a:latin typeface="Baskerville Old Face"/>
                <a:ea typeface="Noto Sans CJK SC"/>
              </a:rPr>
              <a:t>Approaches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8" name="AutoShape 6"/>
          <p:cNvSpPr/>
          <p:nvPr/>
        </p:nvSpPr>
        <p:spPr>
          <a:xfrm>
            <a:off x="360000" y="3779640"/>
            <a:ext cx="858492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Box 18"/>
          <p:cNvSpPr/>
          <p:nvPr/>
        </p:nvSpPr>
        <p:spPr>
          <a:xfrm>
            <a:off x="1752120" y="1620000"/>
            <a:ext cx="544788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4aad"/>
                </a:solidFill>
                <a:latin typeface="Gadugi"/>
                <a:ea typeface="Gadugi"/>
              </a:rPr>
              <a:t>4</a:t>
            </a:r>
            <a:r>
              <a:rPr b="1" lang="en-US" sz="2000" spc="-1" strike="noStrike" baseline="30000">
                <a:solidFill>
                  <a:srgbClr val="004aad"/>
                </a:solidFill>
                <a:latin typeface="Gadugi"/>
                <a:ea typeface="Gadugi"/>
              </a:rPr>
              <a:t>th</a:t>
            </a:r>
            <a:r>
              <a:rPr b="1" lang="en-US" sz="2000" spc="-1" strike="noStrike">
                <a:solidFill>
                  <a:srgbClr val="004aad"/>
                </a:solidFill>
                <a:latin typeface="Gadugi"/>
                <a:ea typeface="Gadugi"/>
              </a:rPr>
              <a:t>  IEEE International Conference </a:t>
            </a:r>
            <a:endParaRPr b="0" lang="en-IN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4aad"/>
                </a:solidFill>
                <a:latin typeface="Gadugi"/>
                <a:ea typeface="Gadugi"/>
              </a:rPr>
              <a:t>on 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00" name="TextBox 19"/>
          <p:cNvSpPr/>
          <p:nvPr/>
        </p:nvSpPr>
        <p:spPr>
          <a:xfrm>
            <a:off x="1260000" y="2340000"/>
            <a:ext cx="642816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72" strike="noStrike">
                <a:solidFill>
                  <a:srgbClr val="0070c0"/>
                </a:solidFill>
                <a:latin typeface="Microsoft YaHei"/>
                <a:ea typeface="Microsoft YaHei"/>
              </a:rPr>
              <a:t>Knowledge Engineering </a:t>
            </a:r>
            <a:endParaRPr b="0" lang="en-IN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000" spc="72" strike="noStrike">
                <a:solidFill>
                  <a:srgbClr val="0070c0"/>
                </a:solidFill>
                <a:latin typeface="Microsoft YaHei"/>
                <a:ea typeface="Microsoft YaHei"/>
              </a:rPr>
              <a:t>and </a:t>
            </a:r>
            <a:endParaRPr b="0" lang="en-IN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000" spc="72" strike="noStrike">
                <a:solidFill>
                  <a:srgbClr val="0070c0"/>
                </a:solidFill>
                <a:latin typeface="Microsoft YaHei"/>
                <a:ea typeface="Microsoft YaHei"/>
              </a:rPr>
              <a:t>Communication Systems</a:t>
            </a:r>
            <a:r>
              <a:rPr b="1" lang="en-US" sz="2600" spc="72" strike="noStrike">
                <a:solidFill>
                  <a:srgbClr val="0070c0"/>
                </a:solidFill>
                <a:latin typeface="Microsoft YaHei"/>
                <a:ea typeface="Microsoft YaHei"/>
              </a:rPr>
              <a:t> 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1" name="TextBox 20"/>
          <p:cNvSpPr/>
          <p:nvPr/>
        </p:nvSpPr>
        <p:spPr>
          <a:xfrm>
            <a:off x="2833200" y="3420000"/>
            <a:ext cx="346680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1412"/>
              </a:lnSpc>
              <a:buNone/>
            </a:pPr>
            <a:r>
              <a:rPr b="1" lang="en-US" sz="1500" spc="-1" strike="noStrike">
                <a:solidFill>
                  <a:srgbClr val="7f271e"/>
                </a:solidFill>
                <a:latin typeface="Montserrat Classic Bold"/>
              </a:rPr>
              <a:t>24</a:t>
            </a:r>
            <a:r>
              <a:rPr b="1" lang="en-US" sz="1500" spc="-1" strike="noStrike" baseline="30000">
                <a:solidFill>
                  <a:srgbClr val="7f271e"/>
                </a:solidFill>
                <a:latin typeface="Montserrat Classic Bold"/>
              </a:rPr>
              <a:t>th</a:t>
            </a:r>
            <a:r>
              <a:rPr b="1" lang="en-US" sz="1500" spc="-1" strike="noStrike">
                <a:solidFill>
                  <a:srgbClr val="7f271e"/>
                </a:solidFill>
                <a:latin typeface="Montserrat Classic Bold"/>
              </a:rPr>
              <a:t>  &amp; 25</a:t>
            </a:r>
            <a:r>
              <a:rPr b="1" lang="en-US" sz="1500" spc="-1" strike="noStrike" baseline="30000">
                <a:solidFill>
                  <a:srgbClr val="7f271e"/>
                </a:solidFill>
                <a:latin typeface="Montserrat Classic Bold"/>
              </a:rPr>
              <a:t>th</a:t>
            </a:r>
            <a:r>
              <a:rPr b="1" lang="en-US" sz="1500" spc="-1" strike="noStrike">
                <a:solidFill>
                  <a:srgbClr val="7f271e"/>
                </a:solidFill>
                <a:latin typeface="Montserrat Classic Bold"/>
              </a:rPr>
              <a:t>  April, 2026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2" name="Freeform 22"/>
          <p:cNvSpPr/>
          <p:nvPr/>
        </p:nvSpPr>
        <p:spPr>
          <a:xfrm>
            <a:off x="-103680" y="1260000"/>
            <a:ext cx="1847520" cy="1791720"/>
          </a:xfrm>
          <a:custGeom>
            <a:avLst/>
            <a:gdLst/>
            <a:ahLst/>
            <a:rect l="l" t="t" r="r" b="b"/>
            <a:pathLst>
              <a:path w="2193190" h="2193190">
                <a:moveTo>
                  <a:pt x="0" y="0"/>
                </a:moveTo>
                <a:lnTo>
                  <a:pt x="2193190" y="0"/>
                </a:lnTo>
                <a:lnTo>
                  <a:pt x="2193190" y="2193190"/>
                </a:lnTo>
                <a:lnTo>
                  <a:pt x="0" y="21931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Freeform 23"/>
          <p:cNvSpPr/>
          <p:nvPr/>
        </p:nvSpPr>
        <p:spPr>
          <a:xfrm>
            <a:off x="7020000" y="1684440"/>
            <a:ext cx="2052720" cy="655560"/>
          </a:xfrm>
          <a:custGeom>
            <a:avLst/>
            <a:gdLst/>
            <a:ahLst/>
            <a:rect l="l" t="t" r="r" b="b"/>
            <a:pathLst>
              <a:path w="3654611" h="909592">
                <a:moveTo>
                  <a:pt x="0" y="0"/>
                </a:moveTo>
                <a:lnTo>
                  <a:pt x="3654610" y="0"/>
                </a:lnTo>
                <a:lnTo>
                  <a:pt x="3654610" y="909592"/>
                </a:lnTo>
                <a:lnTo>
                  <a:pt x="0" y="90959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ubtitle 2"/>
          <p:cNvSpPr/>
          <p:nvPr/>
        </p:nvSpPr>
        <p:spPr>
          <a:xfrm>
            <a:off x="2880000" y="4957560"/>
            <a:ext cx="4174920" cy="9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43c0b"/>
                </a:solidFill>
                <a:latin typeface="Baskerville Old Face"/>
              </a:rPr>
              <a:t>Magdalene Janet Johnson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Arial"/>
            </a:endParaRPr>
          </a:p>
        </p:txBody>
      </p:sp>
      <p:sp>
        <p:nvSpPr>
          <p:cNvPr id="105" name="Subtitle 2"/>
          <p:cNvSpPr/>
          <p:nvPr/>
        </p:nvSpPr>
        <p:spPr>
          <a:xfrm>
            <a:off x="256320" y="5546880"/>
            <a:ext cx="20772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43c0b"/>
                </a:solidFill>
                <a:latin typeface="Baskerville Old Face"/>
              </a:rPr>
              <a:t>Roshan D Suvaris</a:t>
            </a:r>
            <a:endParaRPr b="0" lang="en-IN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</p:txBody>
      </p:sp>
      <p:sp>
        <p:nvSpPr>
          <p:cNvPr id="106" name="Subtitle 2"/>
          <p:cNvSpPr/>
          <p:nvPr/>
        </p:nvSpPr>
        <p:spPr>
          <a:xfrm>
            <a:off x="2390400" y="5546880"/>
            <a:ext cx="20772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43c0b"/>
                </a:solidFill>
                <a:latin typeface="Baskerville Old Face"/>
              </a:rPr>
              <a:t>Anantha Murthy</a:t>
            </a:r>
            <a:endParaRPr b="0" lang="en-IN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</p:txBody>
      </p:sp>
      <p:sp>
        <p:nvSpPr>
          <p:cNvPr id="107" name="Subtitle 2"/>
          <p:cNvSpPr/>
          <p:nvPr/>
        </p:nvSpPr>
        <p:spPr>
          <a:xfrm>
            <a:off x="4567320" y="5546880"/>
            <a:ext cx="20772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43c0b"/>
                </a:solidFill>
                <a:latin typeface="Baskerville Old Face"/>
              </a:rPr>
              <a:t>NMAMIT, </a:t>
            </a:r>
            <a:endParaRPr b="0" lang="en-IN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43c0b"/>
                </a:solidFill>
                <a:latin typeface="Baskerville Old Face"/>
              </a:rPr>
              <a:t>Nitte</a:t>
            </a:r>
            <a:endParaRPr b="0" lang="en-IN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</p:txBody>
      </p:sp>
      <p:sp>
        <p:nvSpPr>
          <p:cNvPr id="108" name="Subtitle 2"/>
          <p:cNvSpPr/>
          <p:nvPr/>
        </p:nvSpPr>
        <p:spPr>
          <a:xfrm>
            <a:off x="6660000" y="5400000"/>
            <a:ext cx="234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43c0b"/>
                </a:solidFill>
                <a:latin typeface="Baskerville Old Face"/>
              </a:rPr>
              <a:t>Dept. of MCA, Nitte (Deemed to be University)</a:t>
            </a:r>
            <a:endParaRPr b="0" lang="en-IN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IN" sz="2000" spc="-1" strike="noStrike">
              <a:latin typeface="Arial"/>
            </a:endParaRPr>
          </a:p>
        </p:txBody>
      </p:sp>
      <p:pic>
        <p:nvPicPr>
          <p:cNvPr id="109" name="Picture 2" descr=""/>
          <p:cNvPicPr/>
          <p:nvPr/>
        </p:nvPicPr>
        <p:blipFill>
          <a:blip r:embed="rId3"/>
          <a:stretch/>
        </p:blipFill>
        <p:spPr>
          <a:xfrm>
            <a:off x="804960" y="180000"/>
            <a:ext cx="7597800" cy="1380960"/>
          </a:xfrm>
          <a:prstGeom prst="rect">
            <a:avLst/>
          </a:prstGeom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ftr" idx="10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1" lang="en-US" sz="10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10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F672C7-BCE6-4D6C-9F62-81CF99518348}" type="slidenum">
              <a:t>1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E3A3F470-A9DC-4968-AAEB-6B804B6C478C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US" sz="3600" spc="-52" strike="noStrike">
                <a:solidFill>
                  <a:srgbClr val="5b9bd5"/>
                </a:solidFill>
                <a:latin typeface="Bookman Old Style"/>
              </a:rPr>
              <a:t>Introduction</a:t>
            </a:r>
            <a:endParaRPr b="0" lang="en-US" sz="36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85000"/>
          </a:bodyPr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Text Image Restoration (TIR) focuses on recovering readable text from degraded images affected by blur, noise, low resolution, and compression artifacts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Critical for downstream applications: OCR, document archival, mobile text imaging, and automatic information extraction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This survey reviews 15 influential papers (2022-2025) covering CNN, Transformer, Diffusion, and Multimodal TIR approaches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TIR requires structural precision: stroke continuity, glyph shape, and semantic preservation beyond standard image restoration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ftr" idx="11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9B4427-D651-4A2F-9E38-8153EC4B8FEB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7C8941FD-D820-4D76-BEB1-5081BAF6B2A5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IN" sz="3600" spc="-52" strike="noStrike">
                <a:solidFill>
                  <a:srgbClr val="5b9bd5"/>
                </a:solidFill>
                <a:latin typeface="Bookman Old Style"/>
              </a:rPr>
              <a:t>Problem Statement/</a:t>
            </a:r>
            <a:r>
              <a:rPr b="1" lang="en-US" sz="3600" spc="-52" strike="noStrike">
                <a:solidFill>
                  <a:srgbClr val="5b9bd5"/>
                </a:solidFill>
                <a:latin typeface="Bookman Old Style"/>
              </a:rPr>
              <a:t>Objectives</a:t>
            </a:r>
            <a:endParaRPr b="0" lang="en-US" sz="36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77000"/>
          </a:bodyPr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Text images suffer from degradations: blur, noise, low resolution, compression artifacts, and geometric distortions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Problem: Existing TIR systems lack generalization to real-world composite degradations, with limited semantic preservation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Objective 1: Systematically survey TIR methodologies into four paradigms: CNN, Transformer, Diffusion, and Multimodal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Objective 2: Comparative performance analysis using metrics: PSNR, SSIM, LPIPS, CER, and OCR accuracy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Objective 3: Identify open challenges and propose future research directions for robust, efficient TIR systems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ftr" idx="12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1103C2-EFAE-4F09-9A0A-CB6749ECCD53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B5901A66-1A0B-4EDF-AF41-1825F21AF8FE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just">
              <a:lnSpc>
                <a:spcPct val="85000"/>
              </a:lnSpc>
              <a:buNone/>
            </a:pPr>
            <a:r>
              <a:rPr b="1" lang="en-US" sz="3600" spc="-52" strike="noStrike">
                <a:solidFill>
                  <a:srgbClr val="5b9bd5"/>
                </a:solidFill>
                <a:latin typeface="Bookman Old Style"/>
              </a:rPr>
              <a:t>Related</a:t>
            </a:r>
            <a:r>
              <a:rPr b="1" lang="en-US" sz="3600" spc="-52" strike="noStrike">
                <a:solidFill>
                  <a:srgbClr val="5b9bd5"/>
                </a:solidFill>
                <a:latin typeface="Bookman Old Style"/>
              </a:rPr>
              <a:t>	</a:t>
            </a:r>
            <a:r>
              <a:rPr b="1" lang="en-US" sz="3600" spc="-52" strike="noStrike">
                <a:solidFill>
                  <a:srgbClr val="5b9bd5"/>
                </a:solidFill>
                <a:latin typeface="Bookman Old Style"/>
              </a:rPr>
              <a:t>work/Reviewof literature</a:t>
            </a:r>
            <a:endParaRPr b="0" lang="en-US" sz="36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87000"/>
          </a:bodyPr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Traditional methods: Deconvolution (blur), Wavelet transforms (denoising) — limited to simple, known distortions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CNN-based (U-Net, ResNet): Hierarchical feature learning; trained on synthetic data with poor real-world generalization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Vision Transformers (ViT, SwinIR, HAT): Global self-attention captures long-range dependencies; high computational cost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Diffusion Models (DDNM, TextIR): Zero-shot restoration via conditional generation; slow iterative inference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Multimodal Frameworks (SUPIR++, Fusion Framework): Text-guided restoration using CLIP embeddings; needs textual input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Existing surveys: All-in-One Image Restoration [13], Diffusion Survey [14] — less focused on text-specific restoration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ftr" idx="13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3E996E-6B36-4962-87CB-0B85EA22EDBC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A5D27A4E-0DE5-4801-90FD-5DBD34FDA5A1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just">
              <a:lnSpc>
                <a:spcPct val="85000"/>
              </a:lnSpc>
              <a:buNone/>
            </a:pPr>
            <a:r>
              <a:rPr b="1" lang="en-IN" sz="3600" spc="-52" strike="noStrike">
                <a:solidFill>
                  <a:srgbClr val="5b9bd5"/>
                </a:solidFill>
                <a:latin typeface="Bookman Old Style"/>
              </a:rPr>
              <a:t>Research Gaps /Open Issues</a:t>
            </a:r>
            <a:endParaRPr b="0" lang="en-US" sz="36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85000"/>
          </a:bodyPr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Gap 1: Lack of generalization — models trained on synthetic data fail on complex real-world composite degradations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Gap 2: Semantic/structural integrity — pixel-level metrics (PSNR/SSIM) don't capture textual readability or correctness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Gap 3: Computational inefficiency — Transformer and Diffusion models impractical for real-time/on-device deployment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Gap 4: Data scarcity — labeling real-world paired degraded/clean text image datasets is expensive and rare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Gap 5: Inadequate evaluation — missing text-centric metrics: OCR accuracy, readability studies, perceptual alignment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Gap 6: Ethical risks — incorrect restoration of sensitive/historical documents can mislead or destroy meaning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ftr" idx="14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BB4926-AC83-480D-B2BB-7D61D93C0F0A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3E547455-3EF6-410F-90A3-547F5F49B1D9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US" sz="3600" spc="-52" strike="noStrike">
                <a:solidFill>
                  <a:srgbClr val="5b9bd5"/>
                </a:solidFill>
                <a:latin typeface="Bookman Old Style"/>
              </a:rPr>
              <a:t>Proposed Methodology</a:t>
            </a:r>
            <a:r>
              <a:rPr b="1" lang="en-IN" sz="3200" spc="-52" strike="noStrike">
                <a:solidFill>
                  <a:srgbClr val="5b9bd5"/>
                </a:solidFill>
                <a:latin typeface="Bookman Old Style"/>
              </a:rPr>
              <a:t>/ System Architecture</a:t>
            </a:r>
            <a:r>
              <a:rPr b="1" lang="en-US" sz="3600" spc="-52" strike="noStrike">
                <a:solidFill>
                  <a:srgbClr val="5b9bd5"/>
                </a:solidFill>
                <a:latin typeface="Bookman Old Style"/>
              </a:rPr>
              <a:t> / </a:t>
            </a:r>
            <a:r>
              <a:rPr b="1" lang="en-US" sz="3200" spc="-52" strike="noStrike">
                <a:solidFill>
                  <a:srgbClr val="5b9bd5"/>
                </a:solidFill>
                <a:latin typeface="Bookman Old Style"/>
              </a:rPr>
              <a:t>Mathematical Model / Algorithm (if applicable)</a:t>
            </a:r>
            <a:endParaRPr b="0" lang="en-US" sz="32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81000"/>
          </a:bodyPr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Category 1 — CNN-based: KBNet (Kernel Basis Attention for adaptive spatial features), DPIR (plug-and-play denoising prior)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Category 2 — Transformer Hybrid: HAT (window + channel attention + overlapping cross-attention), Restore-RWKV (linear complexity)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Category 3 — Diffusion-based: DDNM (null-space decomposition for zero-shot), TextIR (CLIP-guided natural language prompts)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Category 4 — Multimodal: Fusion Framework (semi-paired cross-attention), SUPIR++ (LoRA fine-tuned Stable Diffusion XL)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Category 5 — Test-Time Adaptation: TAO (lightweight adapter fine-tuned per image for open-set unseen degradations)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Evaluation: Benchmarks on TextZoom, TextOCR, Synthetic datasets; metrics: PSNR, SSIM, CER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ftr" idx="15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4290D8-905E-4779-9CD0-93E06DA13A27}" type="slidenum">
              <a:t>6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41A1D23C-82D2-47B4-99C9-B4914E2AE3CE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IN" sz="3600" spc="-52" strike="noStrike">
                <a:solidFill>
                  <a:srgbClr val="5b9bd5"/>
                </a:solidFill>
                <a:latin typeface="Bookman Old Style"/>
              </a:rPr>
              <a:t>Implementation Details</a:t>
            </a:r>
            <a:endParaRPr b="0" lang="en-US" sz="36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88000"/>
          </a:bodyPr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Paper selection: 15 high-impact papers published 2022–2025 from IEEE, arXiv, ACM, ICML conferences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Datasets covered: TextZoom (scene text SR), TextOCR (scene text recognition), Synthetic degradation datasets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Benchmark metrics: PSNR (dB), SSIM (0–1), CER (Character Error Rate) for OCR accuracy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Deep learning frameworks used in reviewed works: PyTorch, TensorFlow; GPU-based training (NVIDIA A100/V100)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Taxonomy: Methods classified by architecture type, learning paradigm (supervised/zero-shot/test-time adaptive)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Comparative tools: Table-based analysis of advantages, limitations, computational efficiency per category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ftr" idx="16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F9D81B-A860-4710-970F-7FDF4EE4E5E8}" type="slidenum">
              <a:t>7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60A3F0AD-7C54-40FA-9336-767126F6A2E2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IN" sz="3600" spc="-52" strike="noStrike">
                <a:solidFill>
                  <a:srgbClr val="5b9bd5"/>
                </a:solidFill>
                <a:latin typeface="Bookman Old Style"/>
              </a:rPr>
              <a:t>Experimental Setup</a:t>
            </a:r>
            <a:endParaRPr b="0" lang="en-US" sz="36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87000"/>
          </a:bodyPr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Evaluation framework: Quantitative comparison across 6 representative TIR methods on benchmark datasets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Metrics used: PSNR (Peak Signal-to-Noise Ratio), SSIM (Structural Similarity Index), CER (Character Error Rate)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Test datasets: TextZoom (TextIR), TextOCR (HAT), Synthetic (DDNM), Multiple (KBNet), Real-World (SUPIR++), Open-Set (TAO)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Computational analysis: Inference latency, GPU memory usage, suitability for edge/real-time deployment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Qualitative analysis: Perceptual quality, semantic correctness, robustness to unseen degradation types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Comparative baseline: All methods evaluated against standard benchmarks; results sourced from original papers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ftr" idx="17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77DE7D-864D-404D-AB75-CDF72E63471D}" type="slidenum">
              <a:t>8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AD2B2C6E-5E00-4488-8E2A-CB69A3003950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IN" sz="3600" spc="-52" strike="noStrike">
                <a:solidFill>
                  <a:srgbClr val="5b9bd5"/>
                </a:solidFill>
                <a:latin typeface="Bookman Old Style"/>
              </a:rPr>
              <a:t>Results, Analysis &amp; Discussion</a:t>
            </a:r>
            <a:endParaRPr b="0" lang="en-US" sz="36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88000"/>
          </a:bodyPr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KBNet: Best quantitative scores — PSNR 27.2 dB, SSIM 0.85, CER 2.5 (Multiple datasets); efficient CNN architecture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HAT: PSNR 26.3, SSIM 0.82, CER 2.8 (TextOCR); best transformer — strong global context at high compute cost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DDNM: PSNR 25.1, SSIM 0.79 (Synthetic); zero-shot strength, slow due to iterative diffusion sampling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TextIR: PSNR 24.8, SSIM 0.78, CER 3.2 (TextZoom); flexible CLIP-guided prompting, moderate performance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SUPIR++: PSNR 23.9, SSIM 0.76, CER 4.1 (Real-World); best perceptual quality, highest compute overhead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TAO: PSNR 22.7, SSIM 0.71, CER 5.3 (Open-Set); most flexible to unseen degradations, lowest fidelity scores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ftr" idx="18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49F8FC-41B4-4A22-8248-5C39800F1196}" type="slidenum">
              <a:t>9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E1D460DD-7572-46CF-9D94-67F9F2BFD193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US" sz="3600" spc="-52" strike="noStrike">
                <a:solidFill>
                  <a:srgbClr val="5b9bd5"/>
                </a:solidFill>
                <a:latin typeface="Bookman Old Style"/>
              </a:rPr>
              <a:t>Conclusions and future work</a:t>
            </a:r>
            <a:endParaRPr b="0" lang="en-US" sz="36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87000"/>
          </a:bodyPr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Contribution: Structured taxonomy of TIR into 5 categories; comparative analysis across PSNR, SSIM, CER metrics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Finding: CNN methods (KBNet) offer best efficiency; Transformers and Diffusion models excel in quality but at high cost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Finding: Zero-shot (DDNM) and test-time adaptation (TAO) show promise for real-world open-set degradations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Future 1: Unified all-in-one frameworks using mixture-of-experts routing for multiple degradation types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Future 2: Lightweight deployable models via quantization, pruning, and knowledge distillation for edge devices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000" spc="-1" strike="noStrike">
                <a:solidFill>
                  <a:srgbClr val="404040"/>
                </a:solidFill>
                <a:latin typeface="Georgia"/>
              </a:rPr>
              <a:t>Future 3: LLM integration for semantic reasoning; human-in-the-loop interactive TIR for sensitive documents</a:t>
            </a:r>
            <a:endParaRPr b="0" lang="en-US" sz="2000" spc="-1" strike="noStrike">
              <a:solidFill>
                <a:srgbClr val="404040"/>
              </a:solidFill>
              <a:latin typeface="Georgia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19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121ADC-D508-486A-8124-DD0AB42E2DEB}" type="slidenum">
              <a:t>10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EE7D7C2C-2CC9-4116-8103-27EA4B86C0DA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IN" sz="3600" spc="-52" strike="noStrike">
                <a:solidFill>
                  <a:srgbClr val="5b9bd5"/>
                </a:solidFill>
                <a:latin typeface="Bookman Old Style"/>
              </a:rPr>
              <a:t>Acknowledgment (Optional)</a:t>
            </a:r>
            <a:endParaRPr b="0" lang="en-US" sz="36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/>
          </a:bodyPr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Authors thank Nitte (Deemed to be University) for academic support and research infrastructure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Gratitude to NMAM Institute of Technology (NMAMIT), Nitte — Department of MCA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rgbClr val="404040"/>
                </a:solidFill>
                <a:latin typeface="Georgia"/>
              </a:rPr>
              <a:t>Special thanks to faculty mentors and the research community for foundational works cited in this survey</a:t>
            </a: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ftr" idx="20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87A4E5-C9E2-4392-8C66-60FA4BB4517B}" type="slidenum">
              <a:t>11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8899F819-4DD8-4B49-BFB4-5466A4A77DF4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440" cy="14504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85000"/>
              </a:lnSpc>
              <a:buNone/>
            </a:pPr>
            <a:r>
              <a:rPr b="1" lang="en-US" sz="3600" spc="-52" strike="noStrike">
                <a:solidFill>
                  <a:srgbClr val="5b9bd5"/>
                </a:solidFill>
                <a:latin typeface="Bookman Old Style"/>
              </a:rPr>
              <a:t>References</a:t>
            </a:r>
            <a:endParaRPr b="0" lang="en-US" sz="36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4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anchor="t">
            <a:normAutofit fontScale="87000"/>
          </a:bodyPr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rgbClr val="404040"/>
                </a:solidFill>
                <a:latin typeface="Georgia"/>
              </a:rPr>
              <a:t>[1] J. Li et al., "TextIR: A simple framework for text-based editable image restoration," IEEE TVCG, 2025.</a:t>
            </a:r>
            <a:endParaRPr b="0" lang="en-US" sz="18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rgbClr val="404040"/>
                </a:solidFill>
                <a:latin typeface="Georgia"/>
              </a:rPr>
              <a:t>[2] Y. Zhang et al., "Multimodal data enhancement framework for text image restoration," SSRN, 2024.</a:t>
            </a:r>
            <a:endParaRPr b="0" lang="en-US" sz="18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rgbClr val="404040"/>
                </a:solidFill>
                <a:latin typeface="Georgia"/>
              </a:rPr>
              <a:t>[3] H. Wang et al., "DDNM: Denoising diffusion null-space model for zero-shot image restoration," arXiv:2212.00490, 2023.</a:t>
            </a:r>
            <a:endParaRPr b="0" lang="en-US" sz="18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rgbClr val="404040"/>
                </a:solidFill>
                <a:latin typeface="Georgia"/>
              </a:rPr>
              <a:t>[4] C. Xu et al., "TAO: Test-time degradation adaptation for open-set image restoration," ICML, 2024.</a:t>
            </a:r>
            <a:endParaRPr b="0" lang="en-US" sz="18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rgbClr val="404040"/>
                </a:solidFill>
                <a:latin typeface="Georgia"/>
              </a:rPr>
              <a:t>[8] X. Wang et al., "HAT: Hybrid attention transformer for image restoration," arXiv:2309.05239, 2024.</a:t>
            </a:r>
            <a:endParaRPr b="0" lang="en-US" sz="18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rgbClr val="404040"/>
                </a:solidFill>
                <a:latin typeface="Georgia"/>
              </a:rPr>
              <a:t>[11] T. Liang et al., "SUPIR++: Enhancing image restoration with LoRA-enhanced stable diffusion," arXiv:2408.17060, 2024.</a:t>
            </a:r>
            <a:endParaRPr b="0" lang="en-US" sz="1800" spc="-1" strike="noStrike">
              <a:solidFill>
                <a:srgbClr val="404040"/>
              </a:solidFill>
              <a:latin typeface="Georgia"/>
            </a:endParaRPr>
          </a:p>
          <a:p>
            <a:pPr marL="639720" indent="-4572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5b9bd5"/>
              </a:buClr>
              <a:buFont typeface="Wingdings" charset="2"/>
              <a:buChar char=""/>
            </a:pPr>
            <a:r>
              <a:rPr b="0" lang="en-US" sz="1800" spc="-1" strike="noStrike">
                <a:solidFill>
                  <a:srgbClr val="404040"/>
                </a:solidFill>
                <a:latin typeface="Georgia"/>
              </a:rPr>
              <a:t>[15] L. Chen et al., "KBNet: Kernel basis network for image restoration," arXiv:2303.02881, 2023.</a:t>
            </a:r>
            <a:endParaRPr b="0" lang="en-US" sz="1800" spc="-1" strike="noStrike">
              <a:solidFill>
                <a:srgbClr val="404040"/>
              </a:solidFill>
              <a:latin typeface="Georgia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404040"/>
              </a:solidFill>
              <a:latin typeface="Georgia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ftr" idx="21"/>
          </p:nvPr>
        </p:nvSpPr>
        <p:spPr>
          <a:xfrm>
            <a:off x="2764800" y="6459840"/>
            <a:ext cx="3616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Georgia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Georgia"/>
              </a:rPr>
              <a:t>ICKECS - 2026</a:t>
            </a:r>
            <a:endParaRPr b="0" lang="en-IN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72AA11-A1CE-4B65-B584-9F3AB4A23424}" type="slidenum">
              <a:t>12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1E08E9C7-04C4-448E-BF09-E047BAFB1BFE}" type="datetime1">
              <a:rPr lang="en-IN"/>
              <a:t>02/04/2026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247</TotalTime>
  <Application>LibreOffice/7.3.7.2$Linux_X86_64 LibreOffice_project/30$Build-2</Application>
  <AppVersion>15.0000</AppVersion>
  <Words>377</Words>
  <Paragraphs>106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2024-04-05T13:23:24Z</dcterms:created>
  <dc:creator>hodcsesjcit@outlook.com</dc:creator>
  <dc:description/>
  <dc:language>en-IN</dc:language>
  <cp:lastModifiedBy/>
  <dcterms:modified xsi:type="dcterms:W3CDTF">2026-04-02T12:57:57Z</dcterms:modified>
  <cp:revision>33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(4:3)</vt:lpwstr>
  </property>
  <property fmtid="{D5CDD505-2E9C-101B-9397-08002B2CF9AE}" pid="4" name="Slides">
    <vt:i4>12</vt:i4>
  </property>
</Properties>
</file>